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1B42BA-9922-46F0-A64E-81D075FC258E}" v="6" dt="2026-02-23T09:23:12.9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NA MITTAL" userId="dc892d2f9637cead" providerId="LiveId" clId="{D1183D3B-3700-4803-AE2A-F30D21A7AD76}"/>
    <pc:docChg chg="undo custSel modSld">
      <pc:chgData name="NAINA MITTAL" userId="dc892d2f9637cead" providerId="LiveId" clId="{D1183D3B-3700-4803-AE2A-F30D21A7AD76}" dt="2026-02-23T09:23:49.305" v="314" actId="20577"/>
      <pc:docMkLst>
        <pc:docMk/>
      </pc:docMkLst>
      <pc:sldChg chg="modSp mod">
        <pc:chgData name="NAINA MITTAL" userId="dc892d2f9637cead" providerId="LiveId" clId="{D1183D3B-3700-4803-AE2A-F30D21A7AD76}" dt="2026-02-23T09:00:11.687" v="7" actId="20577"/>
        <pc:sldMkLst>
          <pc:docMk/>
          <pc:sldMk cId="0" sldId="270"/>
        </pc:sldMkLst>
        <pc:spChg chg="mod">
          <ac:chgData name="NAINA MITTAL" userId="dc892d2f9637cead" providerId="LiveId" clId="{D1183D3B-3700-4803-AE2A-F30D21A7AD76}" dt="2026-02-23T09:00:11.687" v="7" actId="20577"/>
          <ac:spMkLst>
            <pc:docMk/>
            <pc:sldMk cId="0" sldId="270"/>
            <ac:spMk id="27" creationId="{00000000-0000-0000-0000-000000000000}"/>
          </ac:spMkLst>
        </pc:spChg>
      </pc:sldChg>
      <pc:sldChg chg="modSp mod">
        <pc:chgData name="NAINA MITTAL" userId="dc892d2f9637cead" providerId="LiveId" clId="{D1183D3B-3700-4803-AE2A-F30D21A7AD76}" dt="2026-02-23T09:17:04.231" v="207" actId="207"/>
        <pc:sldMkLst>
          <pc:docMk/>
          <pc:sldMk cId="0" sldId="271"/>
        </pc:sldMkLst>
        <pc:spChg chg="mod">
          <ac:chgData name="NAINA MITTAL" userId="dc892d2f9637cead" providerId="LiveId" clId="{D1183D3B-3700-4803-AE2A-F30D21A7AD76}" dt="2026-02-23T09:17:04.231" v="207" actId="207"/>
          <ac:spMkLst>
            <pc:docMk/>
            <pc:sldMk cId="0" sldId="271"/>
            <ac:spMk id="16" creationId="{00000000-0000-0000-0000-000000000000}"/>
          </ac:spMkLst>
        </pc:spChg>
      </pc:sldChg>
      <pc:sldChg chg="modSp mod">
        <pc:chgData name="NAINA MITTAL" userId="dc892d2f9637cead" providerId="LiveId" clId="{D1183D3B-3700-4803-AE2A-F30D21A7AD76}" dt="2026-02-23T09:21:45.429" v="243" actId="207"/>
        <pc:sldMkLst>
          <pc:docMk/>
          <pc:sldMk cId="0" sldId="272"/>
        </pc:sldMkLst>
        <pc:spChg chg="mod">
          <ac:chgData name="NAINA MITTAL" userId="dc892d2f9637cead" providerId="LiveId" clId="{D1183D3B-3700-4803-AE2A-F30D21A7AD76}" dt="2026-02-23T09:20:10.798" v="226" actId="1410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AINA MITTAL" userId="dc892d2f9637cead" providerId="LiveId" clId="{D1183D3B-3700-4803-AE2A-F30D21A7AD76}" dt="2026-02-23T09:20:10.547" v="225" actId="2057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AINA MITTAL" userId="dc892d2f9637cead" providerId="LiveId" clId="{D1183D3B-3700-4803-AE2A-F30D21A7AD76}" dt="2026-02-23T09:21:45.429" v="243" actId="207"/>
          <ac:spMkLst>
            <pc:docMk/>
            <pc:sldMk cId="0" sldId="272"/>
            <ac:spMk id="16" creationId="{00000000-0000-0000-0000-000000000000}"/>
          </ac:spMkLst>
        </pc:spChg>
      </pc:sldChg>
      <pc:sldChg chg="modSp mod">
        <pc:chgData name="NAINA MITTAL" userId="dc892d2f9637cead" providerId="LiveId" clId="{D1183D3B-3700-4803-AE2A-F30D21A7AD76}" dt="2026-02-23T09:23:49.305" v="314" actId="20577"/>
        <pc:sldMkLst>
          <pc:docMk/>
          <pc:sldMk cId="0" sldId="273"/>
        </pc:sldMkLst>
        <pc:spChg chg="mod">
          <ac:chgData name="NAINA MITTAL" userId="dc892d2f9637cead" providerId="LiveId" clId="{D1183D3B-3700-4803-AE2A-F30D21A7AD76}" dt="2026-02-23T09:23:10.206" v="246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NAINA MITTAL" userId="dc892d2f9637cead" providerId="LiveId" clId="{D1183D3B-3700-4803-AE2A-F30D21A7AD76}" dt="2026-02-23T09:23:49.305" v="314" actId="20577"/>
          <ac:spMkLst>
            <pc:docMk/>
            <pc:sldMk cId="0" sldId="273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206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45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Science Series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NAINA MITTAL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/ SECTION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Sogeti /  LO1</a:t>
            </a:r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046720" cy="475488"/>
          </a:xfrm>
          <a:prstGeom prst="rect">
            <a:avLst/>
          </a:prstGeom>
          <a:solidFill>
            <a:srgbClr val="16213E"/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r>
              <a:rPr lang="en-IN" dirty="0">
                <a:solidFill>
                  <a:srgbClr val="FFFF00"/>
                </a:solidFill>
              </a:rPr>
              <a:t>6396966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384048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445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23 </a:t>
            </a:r>
            <a:r>
              <a:rPr lang="en-US" sz="1200" dirty="0" err="1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4526280"/>
            <a:ext cx="374904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5445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Marks: ____  / 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 &amp; Operations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1–5  ·  Broadcasting, Indexing &amp; Numerical Computing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× 1 Mark = 5 Marks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following NumPy operation return?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np.array([1, 2, 3]) *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2, 3, 1, 2, 3, 1, 2, 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3, 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multiply array by scalar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NumPy array shapes are broadcast-compatible?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 4) and (5, 4)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(3,) and (3, 3)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1) and (1, 4)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 and 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arr = np.array([[1,2,3],[4,5,6],[7,8,9]]), what does arr[1:, ::2]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5, 6], [7, 8, 9]]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[[4, 6], [7, 9]]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 6], [8, 9]]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NumPy function computes the dot product of two 1-D arrays?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np.multiply()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np.dot()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np.cross()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np.sum()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 of np.arange(2, 10, 3)?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8, 11]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5, 8]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[3, 6, 9]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[2, 4, 6, 8]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228600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Series &amp; DataFrames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6–12  ·  Data Loading, Filtering, Sorting &amp; Wrangling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Questions × 1 Mark = 7 Marks  +  3 Short Answer × 2 Marks = 6 Marks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Pandas method is used to read a CSV file into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pd.read_table()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pd.load_csv()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pd.import_csv()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parameter in pd.read_excel() specifies which sheet to load?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tab_name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sheet_index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sheet_name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df with a column 'Age', which expression filters rows where Age &gt; 25?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df[df.Age &gt; 25]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df.filter(Age &gt; 25)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df.where('Age &gt; 25')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df.query['Age &gt; 25']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sorts a DataFrame by the 'Score' column in descending order?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df.sort('Score', desc=True)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df.order_by('Score', ascending=False)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df.sort_values('Score', ascending=False)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df.arrange('Score', reverse=True)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df.groupby('Dept')['Salary'].mean() return?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mean salary value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grouped by department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salary of the 'Dept' column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– cannot group then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combines two DataFrames horizontally (column-wise)?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axis=0)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pd.concat([df1, df2], axis=1)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df1.append(df2)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how='outer')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 Mark]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df.dropna() do to a DataFrame?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columns with NaN values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48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1488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NaN values with 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all rows containing NaN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246120"/>
            <a:ext cx="402336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3246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NaN with the column mean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7939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– GROUPBY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split-apply-combine strategy used by groupby() in Pandas. Provide a real-world example showing how groupby() with an aggregation function is used.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59" y="2176272"/>
            <a:ext cx="8327571" cy="2802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  </a:t>
            </a:r>
            <a:r>
              <a:rPr lang="en-US" sz="1100" dirty="0">
                <a:solidFill>
                  <a:srgbClr val="FFFF00"/>
                </a:solidFill>
              </a:rPr>
              <a:t>The </a:t>
            </a:r>
            <a:r>
              <a:rPr lang="en-US" sz="1100" b="1" dirty="0">
                <a:solidFill>
                  <a:srgbClr val="FFFF00"/>
                </a:solidFill>
              </a:rPr>
              <a:t>split–apply–combine</a:t>
            </a:r>
            <a:r>
              <a:rPr lang="en-US" sz="1100" dirty="0">
                <a:solidFill>
                  <a:srgbClr val="FFFF00"/>
                </a:solidFill>
              </a:rPr>
              <a:t> strategy is the core idea behind </a:t>
            </a:r>
            <a:r>
              <a:rPr lang="en-US" dirty="0" err="1">
                <a:solidFill>
                  <a:srgbClr val="FFFF00"/>
                </a:solidFill>
              </a:rPr>
              <a:t>groupby</a:t>
            </a:r>
            <a:r>
              <a:rPr lang="en-US" dirty="0">
                <a:solidFill>
                  <a:srgbClr val="FFFF00"/>
                </a:solidFill>
              </a:rPr>
              <a:t>()</a:t>
            </a:r>
            <a:r>
              <a:rPr lang="en-US" sz="1100" dirty="0">
                <a:solidFill>
                  <a:srgbClr val="FFFF00"/>
                </a:solidFill>
              </a:rPr>
              <a:t> in Pandas. It describes how data is processed in three steps:  </a:t>
            </a:r>
            <a:r>
              <a:rPr lang="en-US" sz="1100" b="1" dirty="0">
                <a:solidFill>
                  <a:srgbClr val="FFFF00"/>
                </a:solidFill>
              </a:rPr>
              <a:t>Split</a:t>
            </a:r>
            <a:br>
              <a:rPr lang="en-US" sz="1100" dirty="0">
                <a:solidFill>
                  <a:srgbClr val="FFFF00"/>
                </a:solidFill>
              </a:rPr>
            </a:br>
            <a:r>
              <a:rPr lang="en-US" sz="1100" dirty="0">
                <a:solidFill>
                  <a:srgbClr val="FFFF00"/>
                </a:solidFill>
              </a:rPr>
              <a:t>The dataset is divided into groups based on the values of one or more columns.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Apply</a:t>
            </a:r>
            <a:br>
              <a:rPr lang="en-US" sz="1100" dirty="0">
                <a:solidFill>
                  <a:srgbClr val="FFFF00"/>
                </a:solidFill>
              </a:rPr>
            </a:br>
            <a:r>
              <a:rPr lang="en-US" sz="1100" dirty="0">
                <a:solidFill>
                  <a:srgbClr val="FFFF00"/>
                </a:solidFill>
              </a:rPr>
              <a:t>A function is applied to each group independently.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Combine</a:t>
            </a:r>
            <a:br>
              <a:rPr lang="en-US" sz="1100" dirty="0">
                <a:solidFill>
                  <a:srgbClr val="FFFF00"/>
                </a:solidFill>
              </a:rPr>
            </a:br>
            <a:r>
              <a:rPr lang="en-US" sz="1100" dirty="0">
                <a:solidFill>
                  <a:srgbClr val="FFFF00"/>
                </a:solidFill>
              </a:rPr>
              <a:t>The results from each group are combined back into a new </a:t>
            </a:r>
            <a:r>
              <a:rPr lang="en-US" sz="1100" dirty="0" err="1">
                <a:solidFill>
                  <a:srgbClr val="FFFF00"/>
                </a:solidFill>
              </a:rPr>
              <a:t>DataFrame</a:t>
            </a:r>
            <a:r>
              <a:rPr lang="en-US" sz="1100" dirty="0">
                <a:solidFill>
                  <a:srgbClr val="FFFF00"/>
                </a:solidFill>
              </a:rPr>
              <a:t> or Series.</a:t>
            </a:r>
          </a:p>
          <a:p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b="1" dirty="0">
                <a:solidFill>
                  <a:srgbClr val="FFFF00"/>
                </a:solidFill>
              </a:rPr>
              <a:t>Scenario</a:t>
            </a:r>
          </a:p>
          <a:p>
            <a:r>
              <a:rPr lang="en-US" sz="1100" dirty="0">
                <a:solidFill>
                  <a:srgbClr val="FFFF00"/>
                </a:solidFill>
              </a:rPr>
              <a:t>An HR team wants to analyze the </a:t>
            </a:r>
            <a:r>
              <a:rPr lang="en-US" sz="1100" b="1" dirty="0">
                <a:solidFill>
                  <a:srgbClr val="FFFF00"/>
                </a:solidFill>
              </a:rPr>
              <a:t>average salary in each department</a:t>
            </a:r>
            <a:r>
              <a:rPr lang="en-US" sz="1100" dirty="0">
                <a:solidFill>
                  <a:srgbClr val="FFFF00"/>
                </a:solidFill>
              </a:rPr>
              <a:t> to understand pay distribution across the company.</a:t>
            </a:r>
          </a:p>
          <a:p>
            <a:endParaRPr lang="en-US" sz="1100" dirty="0">
              <a:solidFill>
                <a:srgbClr val="FFFF00"/>
              </a:solidFill>
            </a:endParaRPr>
          </a:p>
          <a:p>
            <a:br>
              <a:rPr lang="en-US" sz="1100" dirty="0">
                <a:solidFill>
                  <a:srgbClr val="FFFF00"/>
                </a:solidFill>
              </a:rPr>
            </a:br>
            <a:endParaRPr lang="en-US" sz="110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– BROADCASTING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broadcasting in NumPy? State the broadcasting rules and give an example showing how arrays of shapes (3, 1) and (1, 4) would interact.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8412480" cy="25655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100" b="1" dirty="0">
                <a:solidFill>
                  <a:srgbClr val="FFFF00"/>
                </a:solidFill>
              </a:rPr>
              <a:t>Broadcasting</a:t>
            </a:r>
            <a:r>
              <a:rPr lang="en-US" sz="1100" dirty="0">
                <a:solidFill>
                  <a:srgbClr val="FFFF00"/>
                </a:solidFill>
              </a:rPr>
              <a:t> is a mechanism in NumPy that allows arithmetic operations to be performed on arrays of different shapes without explicitly reshaping them.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Broadcasting Rules</a:t>
            </a:r>
          </a:p>
          <a:p>
            <a:r>
              <a:rPr lang="en-US" sz="1100" dirty="0">
                <a:solidFill>
                  <a:srgbClr val="FFFF00"/>
                </a:solidFill>
              </a:rPr>
              <a:t>When operating on two arrays, NumPy compares their shapes </a:t>
            </a:r>
            <a:r>
              <a:rPr lang="en-US" sz="1100" b="1" dirty="0">
                <a:solidFill>
                  <a:srgbClr val="FFFF00"/>
                </a:solidFill>
              </a:rPr>
              <a:t>from right to left</a:t>
            </a:r>
            <a:r>
              <a:rPr lang="en-US" sz="1100" dirty="0">
                <a:solidFill>
                  <a:srgbClr val="FFFF00"/>
                </a:solidFill>
              </a:rPr>
              <a:t> and applies these rules: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Equal dimensions</a:t>
            </a:r>
            <a:r>
              <a:rPr lang="en-US" sz="1100" dirty="0">
                <a:solidFill>
                  <a:srgbClr val="FFFF00"/>
                </a:solidFill>
              </a:rPr>
              <a:t> → Compatible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One dimension is 1</a:t>
            </a:r>
            <a:r>
              <a:rPr lang="en-US" sz="1100" dirty="0">
                <a:solidFill>
                  <a:srgbClr val="FFFF00"/>
                </a:solidFill>
              </a:rPr>
              <a:t> → Compatible </a:t>
            </a:r>
          </a:p>
          <a:p>
            <a:r>
              <a:rPr lang="en-US" sz="1100" b="1" dirty="0">
                <a:solidFill>
                  <a:srgbClr val="FFFF00"/>
                </a:solidFill>
              </a:rPr>
              <a:t>Dimensions are different and neither is 1</a:t>
            </a:r>
            <a:r>
              <a:rPr lang="en-US" sz="1100" dirty="0">
                <a:solidFill>
                  <a:srgbClr val="FFFF00"/>
                </a:solidFill>
              </a:rPr>
              <a:t> → Not compatible</a:t>
            </a:r>
          </a:p>
          <a:p>
            <a:endParaRPr lang="en-US" sz="1100" dirty="0">
              <a:solidFill>
                <a:srgbClr val="FFFF00"/>
              </a:solidFill>
            </a:endParaRPr>
          </a:p>
          <a:p>
            <a:r>
              <a:rPr lang="en-US" sz="1100" dirty="0">
                <a:solidFill>
                  <a:srgbClr val="FFFF00"/>
                </a:solidFill>
              </a:rPr>
              <a:t>Arrays of shapes (3,1) and (1,4) broadcast to produce a (3,4) result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 Marks]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144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any TWO common data-wrangling tasks in Pandas. For each task, name the method used and write a one-line code example.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88036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4097" y="342900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7764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526280"/>
            <a:ext cx="8412480" cy="0"/>
          </a:xfrm>
          <a:prstGeom prst="line">
            <a:avLst/>
          </a:prstGeom>
          <a:noFill/>
          <a:ln w="9525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76271"/>
            <a:ext cx="8412480" cy="24022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</a:p>
          <a:p>
            <a:r>
              <a:rPr lang="en-IN" sz="1600" b="1" dirty="0">
                <a:solidFill>
                  <a:srgbClr val="FFFF00"/>
                </a:solidFill>
              </a:rPr>
              <a:t>Two common data-wrangling tasks in Pandas (in points):</a:t>
            </a:r>
            <a:endParaRPr lang="en-IN" sz="1600" dirty="0">
              <a:solidFill>
                <a:srgbClr val="FFFF00"/>
              </a:solidFill>
            </a:endParaRPr>
          </a:p>
          <a:p>
            <a:r>
              <a:rPr lang="en-IN" sz="1600" b="1" dirty="0">
                <a:solidFill>
                  <a:srgbClr val="FFFF00"/>
                </a:solidFill>
              </a:rPr>
              <a:t>Handling Missing Values</a:t>
            </a:r>
            <a:endParaRPr lang="en-IN" sz="1600" dirty="0">
              <a:solidFill>
                <a:srgbClr val="FFFF00"/>
              </a:solidFill>
            </a:endParaRPr>
          </a:p>
          <a:p>
            <a:pPr lvl="1"/>
            <a:r>
              <a:rPr lang="en-IN" sz="1600" b="1" dirty="0">
                <a:solidFill>
                  <a:srgbClr val="FFFF00"/>
                </a:solidFill>
              </a:rPr>
              <a:t>Method: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 dirty="0" err="1">
                <a:solidFill>
                  <a:srgbClr val="FFFF00"/>
                </a:solidFill>
              </a:rPr>
              <a:t>fillna</a:t>
            </a:r>
            <a:r>
              <a:rPr lang="en-IN" sz="1600" dirty="0">
                <a:solidFill>
                  <a:srgbClr val="FFFF00"/>
                </a:solidFill>
              </a:rPr>
              <a:t>() </a:t>
            </a:r>
          </a:p>
          <a:p>
            <a:pPr lvl="1"/>
            <a:r>
              <a:rPr lang="en-IN" sz="1600" dirty="0" err="1">
                <a:solidFill>
                  <a:srgbClr val="FFFF00"/>
                </a:solidFill>
              </a:rPr>
              <a:t>df</a:t>
            </a:r>
            <a:r>
              <a:rPr lang="en-IN" sz="1600" dirty="0">
                <a:solidFill>
                  <a:srgbClr val="FFFF00"/>
                </a:solidFill>
              </a:rPr>
              <a:t>["Salary"] = </a:t>
            </a:r>
            <a:r>
              <a:rPr lang="en-IN" sz="1600" dirty="0" err="1">
                <a:solidFill>
                  <a:srgbClr val="FFFF00"/>
                </a:solidFill>
              </a:rPr>
              <a:t>df</a:t>
            </a:r>
            <a:r>
              <a:rPr lang="en-IN" sz="1600" dirty="0">
                <a:solidFill>
                  <a:srgbClr val="FFFF00"/>
                </a:solidFill>
              </a:rPr>
              <a:t>["Salary"].</a:t>
            </a:r>
            <a:r>
              <a:rPr lang="en-IN" sz="1600" dirty="0" err="1">
                <a:solidFill>
                  <a:srgbClr val="FFFF00"/>
                </a:solidFill>
              </a:rPr>
              <a:t>fillna</a:t>
            </a:r>
            <a:r>
              <a:rPr lang="en-IN" sz="1600" dirty="0">
                <a:solidFill>
                  <a:srgbClr val="FFFF00"/>
                </a:solidFill>
              </a:rPr>
              <a:t>(</a:t>
            </a:r>
            <a:r>
              <a:rPr lang="en-IN" sz="1600" dirty="0" err="1">
                <a:solidFill>
                  <a:srgbClr val="FFFF00"/>
                </a:solidFill>
              </a:rPr>
              <a:t>df</a:t>
            </a:r>
            <a:r>
              <a:rPr lang="en-IN" sz="1600" dirty="0">
                <a:solidFill>
                  <a:srgbClr val="FFFF00"/>
                </a:solidFill>
              </a:rPr>
              <a:t>["Salary"].mean())</a:t>
            </a:r>
          </a:p>
          <a:p>
            <a:r>
              <a:rPr lang="en-IN" sz="1600" b="1" dirty="0">
                <a:solidFill>
                  <a:srgbClr val="FFFF00"/>
                </a:solidFill>
              </a:rPr>
              <a:t>Filtering Rows Based on Conditions</a:t>
            </a:r>
            <a:endParaRPr lang="en-IN" sz="1600" dirty="0">
              <a:solidFill>
                <a:srgbClr val="FFFF00"/>
              </a:solidFill>
            </a:endParaRPr>
          </a:p>
          <a:p>
            <a:pPr lvl="1"/>
            <a:r>
              <a:rPr lang="en-IN" sz="1600" b="1" dirty="0">
                <a:solidFill>
                  <a:srgbClr val="FFFF00"/>
                </a:solidFill>
              </a:rPr>
              <a:t>Method:</a:t>
            </a:r>
            <a:r>
              <a:rPr lang="en-IN" sz="1600" dirty="0">
                <a:solidFill>
                  <a:srgbClr val="FFFF00"/>
                </a:solidFill>
              </a:rPr>
              <a:t> </a:t>
            </a:r>
            <a:r>
              <a:rPr lang="en-IN" sz="1600">
                <a:solidFill>
                  <a:srgbClr val="FFFF00"/>
                </a:solidFill>
              </a:rPr>
              <a:t>Boolean Indexing</a:t>
            </a:r>
            <a:endParaRPr lang="en-IN" sz="1600" dirty="0">
              <a:solidFill>
                <a:srgbClr val="FFFF00"/>
              </a:solidFill>
            </a:endParaRPr>
          </a:p>
          <a:p>
            <a:pPr lvl="1"/>
            <a:r>
              <a:rPr lang="en-IN" sz="1600" dirty="0" err="1">
                <a:solidFill>
                  <a:srgbClr val="FFFF00"/>
                </a:solidFill>
              </a:rPr>
              <a:t>filtered_df</a:t>
            </a:r>
            <a:r>
              <a:rPr lang="en-IN" sz="1600" dirty="0">
                <a:solidFill>
                  <a:srgbClr val="FFFF00"/>
                </a:solidFill>
              </a:rPr>
              <a:t> = </a:t>
            </a:r>
            <a:r>
              <a:rPr lang="en-IN" sz="1600" dirty="0" err="1">
                <a:solidFill>
                  <a:srgbClr val="FFFF00"/>
                </a:solidFill>
              </a:rPr>
              <a:t>df</a:t>
            </a:r>
            <a:r>
              <a:rPr lang="en-IN" sz="1600" dirty="0">
                <a:solidFill>
                  <a:srgbClr val="FFFF00"/>
                </a:solidFill>
              </a:rPr>
              <a:t>[</a:t>
            </a:r>
            <a:r>
              <a:rPr lang="en-IN" sz="1600" dirty="0" err="1">
                <a:solidFill>
                  <a:srgbClr val="FFFF00"/>
                </a:solidFill>
              </a:rPr>
              <a:t>df</a:t>
            </a:r>
            <a:r>
              <a:rPr lang="en-IN" sz="1600" dirty="0">
                <a:solidFill>
                  <a:srgbClr val="FFFF00"/>
                </a:solidFill>
              </a:rPr>
              <a:t>["Score"] &gt; 80]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all answers before submitting.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468880"/>
          <a:ext cx="6400800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NumPy Arrays &amp; Operations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Q1–Q5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5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Pandas MCQ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Q6–Q12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7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Section 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Short Answer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Q13–Q15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F0F0"/>
                          </a:solidFill>
                        </a:rPr>
                        <a:t>6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</a:rPr>
                        <a:t>30 Marks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1217</Words>
  <Application>Microsoft Office PowerPoint</Application>
  <PresentationFormat>On-screen Show (16:9)</PresentationFormat>
  <Paragraphs>255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NumPy &amp; Pandas Quiz</dc:title>
  <dc:subject>PptxGenJS Presentation</dc:subject>
  <dc:creator>PptxGenJS</dc:creator>
  <cp:lastModifiedBy>NAINA MITTAL</cp:lastModifiedBy>
  <cp:revision>13</cp:revision>
  <dcterms:created xsi:type="dcterms:W3CDTF">2026-02-22T18:36:13Z</dcterms:created>
  <dcterms:modified xsi:type="dcterms:W3CDTF">2026-02-23T09:23:50Z</dcterms:modified>
</cp:coreProperties>
</file>